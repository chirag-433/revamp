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9efcfe94c44968" /><Relationship Type="http://schemas.openxmlformats.org/officeDocument/2006/relationships/extended-properties" Target="/docProps/app.xml" Id="Red49d0f87d734166" /><Relationship Type="http://schemas.openxmlformats.org/officeDocument/2006/relationships/officeDocument" Target="/ppt/presentation.xml" Id="Raec77b88ad7647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f91a029df41d0"/>
  </p:sldMasterIdLst>
  <p:notesMasterIdLst>
    <p:notesMasterId xmlns:r="http://schemas.openxmlformats.org/officeDocument/2006/relationships" r:id="Rea3423941bdb4f95"/>
  </p:notesMasterIdLst>
  <p:sldIdLst>
    <p:sldId xmlns:r="http://schemas.openxmlformats.org/officeDocument/2006/relationships" id="256" r:id="R7cae6b7514fa4aec"/>
    <p:sldId xmlns:r="http://schemas.openxmlformats.org/officeDocument/2006/relationships" id="257" r:id="R0579c2e32fac4a5d"/>
    <p:sldId xmlns:r="http://schemas.openxmlformats.org/officeDocument/2006/relationships" id="258" r:id="Rb2adf4ee7b554137"/>
    <p:sldId xmlns:r="http://schemas.openxmlformats.org/officeDocument/2006/relationships" id="259" r:id="Rb28e8de8674f44dc"/>
    <p:sldId xmlns:r="http://schemas.openxmlformats.org/officeDocument/2006/relationships" id="260" r:id="R0eb6f9f2b5ac4d7a"/>
    <p:sldId xmlns:r="http://schemas.openxmlformats.org/officeDocument/2006/relationships" id="261" r:id="R401e67744e394f73"/>
    <p:sldId xmlns:r="http://schemas.openxmlformats.org/officeDocument/2006/relationships" id="262" r:id="Rbed959d88fe445dc"/>
    <p:sldId xmlns:r="http://schemas.openxmlformats.org/officeDocument/2006/relationships" id="263" r:id="R9bb16fc06fde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949bc748a44919" /><Relationship Type="http://schemas.openxmlformats.org/officeDocument/2006/relationships/slideMaster" Target="/ppt/slideMasters/slideMaster1.xml" Id="Rae3f91a029df41d0" /><Relationship Type="http://schemas.openxmlformats.org/officeDocument/2006/relationships/notesMaster" Target="/ppt/notesMasters/notesMaster1.xml" Id="Rea3423941bdb4f95" /><Relationship Type="http://schemas.openxmlformats.org/officeDocument/2006/relationships/presProps" Target="/ppt/presProps.xml" Id="Rf4b451571fa54201" /><Relationship Type="http://schemas.openxmlformats.org/officeDocument/2006/relationships/tableStyles" Target="/ppt/tableStyles.xml" Id="R06518782bc654ad4" /><Relationship Type="http://schemas.openxmlformats.org/officeDocument/2006/relationships/slide" Target="/ppt/slides/slide1.xml" Id="R7cae6b7514fa4aec" /><Relationship Type="http://schemas.openxmlformats.org/officeDocument/2006/relationships/slide" Target="/ppt/slides/slide2.xml" Id="R0579c2e32fac4a5d" /><Relationship Type="http://schemas.openxmlformats.org/officeDocument/2006/relationships/slide" Target="/ppt/slides/slide3.xml" Id="Rb2adf4ee7b554137" /><Relationship Type="http://schemas.openxmlformats.org/officeDocument/2006/relationships/slide" Target="/ppt/slides/slide4.xml" Id="Rb28e8de8674f44dc" /><Relationship Type="http://schemas.openxmlformats.org/officeDocument/2006/relationships/slide" Target="/ppt/slides/slide5.xml" Id="R0eb6f9f2b5ac4d7a" /><Relationship Type="http://schemas.openxmlformats.org/officeDocument/2006/relationships/slide" Target="/ppt/slides/slide6.xml" Id="R401e67744e394f73" /><Relationship Type="http://schemas.openxmlformats.org/officeDocument/2006/relationships/slide" Target="/ppt/slides/slide7.xml" Id="Rbed959d88fe445dc" /><Relationship Type="http://schemas.openxmlformats.org/officeDocument/2006/relationships/slide" Target="/ppt/slides/slide8.xml" Id="R9bb16fc06fde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d38e5094ea4e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10aa03f0f4dc0" /><Relationship Type="http://schemas.openxmlformats.org/officeDocument/2006/relationships/notesMaster" Target="/ppt/notesMasters/notesMaster1.xml" Id="Rae84d73b1d7542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9dd24200f94587" /><Relationship Type="http://schemas.openxmlformats.org/officeDocument/2006/relationships/notesMaster" Target="/ppt/notesMasters/notesMaster1.xml" Id="R11be1c079a8047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beb125d6284fd0" /><Relationship Type="http://schemas.openxmlformats.org/officeDocument/2006/relationships/notesMaster" Target="/ppt/notesMasters/notesMaster1.xml" Id="Radad930005e64f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7bbe480dac4500" /><Relationship Type="http://schemas.openxmlformats.org/officeDocument/2006/relationships/notesMaster" Target="/ppt/notesMasters/notesMaster1.xml" Id="Rff20da9146d14d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7a53de52884ed1" /><Relationship Type="http://schemas.openxmlformats.org/officeDocument/2006/relationships/notesMaster" Target="/ppt/notesMasters/notesMaster1.xml" Id="R17a8f4794de145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1345836a7a4a0d" /><Relationship Type="http://schemas.openxmlformats.org/officeDocument/2006/relationships/notesMaster" Target="/ppt/notesMasters/notesMaster1.xml" Id="Rd241a9de39f241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92b94b339f428f" /><Relationship Type="http://schemas.openxmlformats.org/officeDocument/2006/relationships/notesMaster" Target="/ppt/notesMasters/notesMaster1.xml" Id="R07ad377f20234c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3a633221014784" /><Relationship Type="http://schemas.openxmlformats.org/officeDocument/2006/relationships/notesMaster" Target="/ppt/notesMasters/notesMaster1.xml" Id="Rf8509096f38842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problem and prototype. The dataset counts refer to generated records, not AICTE production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workflow problem stated in the phase plan. Treat the system boundaries and official workflow rules as assumptions until the mentor confirms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an officer moves from source records to review, transfer or action and then to operational reporting.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based on the code in this prototype. The mock adapters exercise the common CSV import contract; they do not connect to AICTE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plan sets precision and recall targets, but these need larger ground-truth datasets. The prototype keeps matching explainable and decisions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on 24 institution labels and 450 linked-pair labels in the local SQLite demo. The 100% institution precision and recall at 0.90 reflect 12 expected matches only. Overlap precision counts conflict-labeled pairs as false-positive overlap suggestions because overlap and conflict labels are mutually exclusive in this dataset. Do not claim these numbers as real-world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from a local account with the required casework and review permissions. The exact sample case and speaker assignment should be confirmed during team rehearsal.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requesting the exact official statement/template, mentor confirmation of workflow fields and thresholds, and the team’s named roles. Future event and pilot outcomes are not represented as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SIH_Phasewise_Implementation_Plan supplied by the team. Confirm all assumptions against the official problem statement and mentor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48c916d444b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b150e7f9c47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30d00804c41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b5356d86148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6f0fc1d874e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a4119c21f41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2CFDBE-9621-4A8E-AB10-BA76A35DE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BA6A3F-B25F-483D-89B6-CB009F5199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3ED294-23B4-4611-B9F8-195B347D6A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D359CD-F582-49B2-9269-748F421653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151A44-C0A7-4DA8-9E89-4AE4860528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437C8C-92F6-48D6-A4DA-C91C451EA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9C8AE6-8E53-46A8-8347-7E242D2745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9EF75E-AFF6-49ED-BD59-526B9C86E8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9932F9-FFA4-478E-BF99-7104CE300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540A94-97D4-4BCC-A311-BB83F80A6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a4817fc314588" /><Relationship Type="http://schemas.openxmlformats.org/officeDocument/2006/relationships/slideLayout" Target="/ppt/slideLayouts/slideLayout1.xml" Id="R56ba86201c024764" /><Relationship Type="http://schemas.openxmlformats.org/officeDocument/2006/relationships/slideLayout" Target="/ppt/slideLayouts/slideLayout2.xml" Id="R179489d546f94cff" /><Relationship Type="http://schemas.openxmlformats.org/officeDocument/2006/relationships/slideLayout" Target="/ppt/slideLayouts/slideLayout3.xml" Id="Rc3990d9591f94596" /><Relationship Type="http://schemas.openxmlformats.org/officeDocument/2006/relationships/slideLayout" Target="/ppt/slideLayouts/slideLayout4.xml" Id="R286d276d9ebe4232" /><Relationship Type="http://schemas.openxmlformats.org/officeDocument/2006/relationships/slideLayout" Target="/ppt/slideLayouts/slideLayout5.xml" Id="R303055d693eb4b77" /><Relationship Type="http://schemas.openxmlformats.org/officeDocument/2006/relationships/slideLayout" Target="/ppt/slideLayouts/slideLayout6.xml" Id="Rca663c79584244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a86201c024764"/>
    <p:sldLayoutId xmlns:r="http://schemas.openxmlformats.org/officeDocument/2006/relationships" id="2147483650" r:id="R179489d546f94cff"/>
    <p:sldLayoutId xmlns:r="http://schemas.openxmlformats.org/officeDocument/2006/relationships" id="2147483651" r:id="Rc3990d9591f94596"/>
    <p:sldLayoutId xmlns:r="http://schemas.openxmlformats.org/officeDocument/2006/relationships" id="2147483652" r:id="R286d276d9ebe4232"/>
    <p:sldLayoutId xmlns:r="http://schemas.openxmlformats.org/officeDocument/2006/relationships" id="2147483653" r:id="R303055d693eb4b77"/>
    <p:sldLayoutId xmlns:r="http://schemas.openxmlformats.org/officeDocument/2006/relationships" id="2147483654" r:id="Rca663c79584244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a0006fb37429b" /><Relationship Type="http://schemas.openxmlformats.org/officeDocument/2006/relationships/notesSlide" Target="/ppt/notesSlides/notesSlide1.xml" Id="R60643e409f8548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6a7030e1f435b" /><Relationship Type="http://schemas.openxmlformats.org/officeDocument/2006/relationships/notesSlide" Target="/ppt/notesSlides/notesSlide2.xml" Id="Rc4592b2a0b0345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1e65b86f34037" /><Relationship Type="http://schemas.openxmlformats.org/officeDocument/2006/relationships/notesSlide" Target="/ppt/notesSlides/notesSlide3.xml" Id="R8e73004efe1a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a7af2d5b64e2d" /><Relationship Type="http://schemas.openxmlformats.org/officeDocument/2006/relationships/notesSlide" Target="/ppt/notesSlides/notesSlide4.xml" Id="R45a0c72c73a24a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694adb618f4ba2" /><Relationship Type="http://schemas.openxmlformats.org/officeDocument/2006/relationships/notesSlide" Target="/ppt/notesSlides/notesSlide5.xml" Id="R25c75d89eed041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7218bbeb44ce2" /><Relationship Type="http://schemas.openxmlformats.org/officeDocument/2006/relationships/notesSlide" Target="/ppt/notesSlides/notesSlide6.xml" Id="R18cddb4599f64f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d984d97534725" /><Relationship Type="http://schemas.openxmlformats.org/officeDocument/2006/relationships/notesSlide" Target="/ppt/notesSlides/notesSlide7.xml" Id="R068be344239f4c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fa5e8dc8d44b5" /><Relationship Type="http://schemas.openxmlformats.org/officeDocument/2006/relationships/notesSlide" Target="/ppt/notesSlides/notesSlide8.xml" Id="R74a325cdc7754e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03F08-9C33-4013-A15C-394E487E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7675B-1468-4F97-84E1-27338F76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SMART INDIA HACKATHON 2026  /  PROTOTYPE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9C4E1-762D-486F-BC74-E14D44F0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Institution Complaint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DC3BC-8991-4DEC-8D28-0C5D388A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8E2"/>
                </a:solidFill>
                <a:latin typeface="Arial"/>
                <a:ea typeface="Arial"/>
                <a:cs typeface="Arial"/>
              </a:rPr>
              <a:t>A shared view of cross-Bureau cases, identity matches,</a:t>
            </a:r>
          </a:p>
          <a:p xmlns:a="http://schemas.openxmlformats.org/drawingml/2006/main">
            <a:pPr algn="l">
              <a:defRPr sz="172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8E2"/>
                </a:solidFill>
                <a:latin typeface="Arial"/>
                <a:ea typeface="Arial"/>
                <a:cs typeface="Arial"/>
              </a:rPr>
              <a:t>and actions that need coordination.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11B31-0B5B-470E-8123-6D3DEE8F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238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A4B4B"/>
          </a:solidFill>
          <a:ln xmlns:a="http://schemas.openxmlformats.org/drawingml/2006/main" w="9525">
            <a:solidFill>
              <a:srgbClr val="3F76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DFFFC-AD4C-4EB9-BDE5-22B8B74F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DEMO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C98D7-EB65-4A91-A617-DF3DC3CF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5695B-7F18-4E96-9B5F-B7DC5A5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8E2"/>
                </a:solidFill>
                <a:latin typeface="Arial"/>
                <a:ea typeface="Arial"/>
                <a:cs typeface="Arial"/>
              </a:rPr>
              <a:t>synthetic institutions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0C6E3-4AF9-4B13-9E0B-627FFB06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986E9-3167-4788-832A-B6CF83B0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4,144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A93FF-6F08-4C71-A260-335EAC6C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CE8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8E2"/>
                </a:solidFill>
                <a:latin typeface="Arial"/>
                <a:ea typeface="Arial"/>
                <a:cs typeface="Arial"/>
              </a:rPr>
              <a:t>synthetic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F15FE-0A84-4139-8239-B6417DB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BC2"/>
                </a:solidFill>
                <a:latin typeface="Arial"/>
                <a:ea typeface="Arial"/>
                <a:cs typeface="Arial"/>
              </a:rPr>
              <a:t>Working prototype  ·  Synthetic records only</a:t>
            </a:r>
          </a:p>
        </p:txBody>
      </p:sp>
    </p:spTree>
    <p:extLst>
      <p:ext uri="{BB962C8B-B14F-4D97-AF65-F5344CB8AC3E}">
        <p14:creationId xmlns:p14="http://schemas.microsoft.com/office/powerpoint/2010/main" val="805651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442B2-6335-4E22-A2DA-B14335D1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THE OPERATING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7458E-EFDB-4EC6-8321-80FC46B7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1C275-6F8F-4C29-BA1B-E7945818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1307F-E4CD-440E-9E98-EF292643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A single institution can appear in several case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13B3E-2F92-4FB2-B3A7-0887E1F8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Separate registers make it hard to see related work before another action is taken.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77CD6-4E75-4CC1-AA1C-84A35839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F04A4-C0C4-4192-9AF8-8E3B92B1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BEE6F-05CB-4CB7-AC63-A40B60C2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Split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56FB7-FC2C-43BA-8FA9-CC6A79FE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Each Bureau sees its own cases and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BCC87-CAB8-412C-AE23-302070A7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51311-0239-4B26-8FE5-E3004CCB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4908E-99F7-40E3-8C22-DCD94A3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Noisy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74DF9-554C-488A-B957-B7630BAC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Institution names vary across source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E039D-DC5F-45A0-8626-B7DDC71A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EB275-E2A4-4E1E-B29E-D77D58E6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277A7-7AA3-4B22-8C1E-4DE7EAC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Late coordination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FF887-7D93-4F4F-8B07-33AAC07B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Possible overlap or conflicting actions need a human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EADC7-5F0E-4BF5-AEA6-ED96FE86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The prototype keeps source records intact and gives officers one place to compare and coordinate.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3D395-763F-4372-8F97-D9E3B776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Every suggested match or link remains reviewable by an authorized person.</a:t>
            </a:r>
          </a:p>
        </p:txBody>
      </p:sp>
    </p:spTree>
    <p:extLst>
      <p:ext uri="{BB962C8B-B14F-4D97-AF65-F5344CB8AC3E}">
        <p14:creationId xmlns:p14="http://schemas.microsoft.com/office/powerpoint/2010/main" val="1088037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74CCFD-3C91-49BB-B45C-63FD5489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OFFICER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8BA12-ACC1-4CEF-801B-3E6C6CDA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837D3-AF53-4566-9100-332F678C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97319-2DDD-468A-B3AC-A342470F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From imported record to recorded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15290-909D-4A10-8767-4ECC8B7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The same case history supports the register, institution profile and coordination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938CB-A771-4522-9AA8-61ED154F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905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E3FAC-4240-49C1-9C7D-6698AF8D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4FA2C-1120-473E-AC4D-17698CB0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28642-F52F-42C0-8534-5CC9900E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Mock source or 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E373F-205C-427B-A51B-8D347178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1945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69C34-0527-4249-A73C-E51399A6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1905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F00CF-3A98-4321-8BE0-CEBF4926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76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211A0-EA66-443F-9073-372FD779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02B55-6735-45ED-8DFF-9B313303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Permanent ID, alias, name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B6AB0-D550-4989-BF6B-A8BB03B1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1945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D2EF7-3D87-4903-9006-13694F2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1905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6F0E8"/>
          </a:solidFill>
          <a:ln xmlns:a="http://schemas.openxmlformats.org/drawingml/2006/main" w="9525">
            <a:solidFill>
              <a:srgbClr val="6E9F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49A2B-8430-460B-A9AA-8F6A831C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76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2E368-FCD3-48B4-AAB1-6243E630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00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B6695-93E3-4C73-8E49-94FAABD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52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Overlap or conflict flag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9B807-144C-4319-ADF9-89BFCF8F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1945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430CA-751D-4467-886E-5EEAAAB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14625"/>
            <a:ext cx="1905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D17A1-03D2-4AE3-B6DF-DE6E95F6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9283F-6671-46C9-8BF8-A39B8806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00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Coordinate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E0B95-74AF-47F6-8D18-C6B98A95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52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Message, transfer,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11D0F-A41B-46B4-AB60-E5FD3C30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19450"/>
            <a:ext cx="2286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D41D5-4960-4E3A-B5AC-0E6B561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14625"/>
            <a:ext cx="1905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008F4-BD26-47A9-A219-C7F9AB0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1A820-F35E-4578-9114-F41693B3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00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AA4DF-2247-44F4-824A-9A760168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52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Workload, ageing, exports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50F5A0-EEEA-4346-B0D9-7BBC9F5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23B3E"/>
          </a:solidFill>
          <a:ln xmlns:a="http://schemas.openxmlformats.org/drawingml/2006/main" w="9525">
            <a:solidFill>
              <a:srgbClr val="123B3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2938FE-C44A-4FE1-BE25-ED07291E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E85C1B-6176-4F61-A896-DCF06ED1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053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link is a coordination signal. It never merges or changes source cases on its own.</a:t>
            </a:r>
          </a:p>
        </p:txBody>
      </p:sp>
    </p:spTree>
    <p:extLst>
      <p:ext uri="{BB962C8B-B14F-4D97-AF65-F5344CB8AC3E}">
        <p14:creationId xmlns:p14="http://schemas.microsoft.com/office/powerpoint/2010/main" val="1366547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65EB63-F1A7-439E-A0B6-E6ED5ACC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25531-B786-4ACD-A4AE-5C49AC1B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9B3F4-A2DB-48A8-BCEE-1DBA66A0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08A5-9ED5-4AB1-95A3-BDF2C487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A small Django service with replaceable source adapters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15AA5-1883-4EAD-B17A-F742E796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The local prototype runs on SQLite; Docker Compose adds PostgreSQL, Redis and scheduled workers.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2CA0A-2F1A-43F8-913D-1EC348AC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6F0E8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DC579-6C22-4EB4-9C46-DBA59037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Source fixtures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33813-9084-41C1-8AB4-726455C0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RB mock JSON</a:t>
            </a:r>
          </a:p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PGRC mock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E2722-350E-4341-AB3F-EA15DC25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86050"/>
            <a:ext cx="2095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A902D-6502-4248-A405-421CFDA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Import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5751B-E5D8-4F8E-A6E1-8E9E6641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1752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Canonical mapping</a:t>
            </a:r>
          </a:p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Idempotent source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E0AF0-D760-4DAB-AFDB-E34FD378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860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EF2C6-DFFB-42C8-8C30-9E6FD65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Casework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3727B-1B60-406F-A2E1-8027A154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Search and filters</a:t>
            </a:r>
          </a:p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Review, transfer,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40348-3CA2-43BC-B0EF-E0146D7F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2B4CA-0604-4349-A9A0-6923A89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ACBCA-AFF7-4E80-8FBB-59B9C17B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Operational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34904-6FF1-4DFE-9F15-D9785226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766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C5D88-4AB7-4037-9D89-EF41BBAD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290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Redis + Celery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51D06-6A0C-4A6C-8A06-C826B768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7192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Scheduled SLA alerts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09A89-585D-4D0A-8A7D-76E4FC19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023B6-9246-49F0-B6BA-2D2A53A8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385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D9604-F64F-4E1B-B3F7-EF32193D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289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D2656-2B1F-45B5-968D-8DBF704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814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98F84-30D0-454E-8806-38A19062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E5C98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17723-9CF4-4B93-8372-24A2FE7D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Production integration needs source-owner approval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A962B-A68C-4C0D-B084-DC1EA96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01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Live AICTE connectors, public hosting and backup credentials remain external setup items.</a:t>
            </a:r>
          </a:p>
        </p:txBody>
      </p:sp>
    </p:spTree>
    <p:extLst>
      <p:ext uri="{BB962C8B-B14F-4D97-AF65-F5344CB8AC3E}">
        <p14:creationId xmlns:p14="http://schemas.microsoft.com/office/powerpoint/2010/main" val="755653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AEFEC1-D073-495B-9D9C-25692A33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MATCHING AND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65D0E-6B62-4697-A89D-8090F469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D8576-84DE-4DD3-AEA5-396B2980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3BE16-229C-4D7E-8BFB-79AFAFE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Match first, compare second, keep the officer in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6DAF0-3E05-4DC6-963B-8538BFC6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A short explanation follows each suggested institution candidate or cross-Bureau link.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F1E33-D183-4497-ABCF-9DDD4507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219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2BB87-5D25-4E7A-8CFC-2C742D55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5C4E7-8B52-4D11-8E52-4530DAE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Institution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572C0-88E1-4B7F-9DD0-77067D5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8A58D-EB69-4BC9-8BE3-8229FFB0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Exact Permanent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2F014-D5E9-4BA7-9459-96D33D3A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5C29D-609F-4B6C-B7B9-45F875DE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194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Normalized name or alias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57611-04DB-49A9-9C3C-3786A16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7BC2C-FAA0-450D-9408-AA92FE9D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Fuzzy candidate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9E79A-9FD2-4EE2-AEE4-4DA5A7A8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33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2AB5-D7C2-42EC-B8D0-0619553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386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Auto link, review queue or unmatched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FC0F3-439C-4136-B7F0-E11C2CAE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43150"/>
            <a:ext cx="5219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8D90A-8E6E-474E-B6B3-39C315C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431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E39C0-21B9-4BAD-AE24-020DE1F3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52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3B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B3E"/>
                </a:solidFill>
                <a:latin typeface="Arial"/>
                <a:ea typeface="Arial"/>
                <a:cs typeface="Arial"/>
              </a:rPr>
              <a:t>Case coordination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8926F-60C3-4FD3-8387-DF159761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0FC60-2D7E-4C51-B812-274FAC0E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099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Active cases at one institution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EE26C-8973-4F21-93C9-5B4077C9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514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34519-7270-4C62-9787-B16C0DD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194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Different Bureaus or Cells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C0055B-03FE-4D32-87AB-63BE5BE3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24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15740-DB57-4776-A5D6-DC533B7D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290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Configured action conflict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9FBF2-342D-44AB-83FC-EE546B4D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33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EE745-EA9E-4235-BC96-DF55E1C0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386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A32"/>
                </a:solidFill>
                <a:latin typeface="Arial"/>
                <a:ea typeface="Arial"/>
                <a:cs typeface="Arial"/>
              </a:rPr>
              <a:t>Compare, decide and record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A0893-AF5D-46CB-8942-1A0AE111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54B3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54B3C"/>
                </a:solidFill>
                <a:latin typeface="Arial"/>
                <a:ea typeface="Arial"/>
                <a:cs typeface="Arial"/>
              </a:rPr>
              <a:t>No automatic case merge. No claim of production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0853877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DC675-75F6-4F0D-8371-ABCA665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PROTOTYPE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10960-651B-4DFD-9ECA-1FBEF828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61F52-0F1C-4F9C-8B2D-00B58A6F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652F8-902B-4634-9E81-CC7A8155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The current synthetic benchmark is a starting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4F45E-81CA-4F1A-A337-E736D0AD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Numbers below come from generated labels and should not be presented as field performance.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AF316-3FDD-409B-99C1-13952D65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F1F45-C01A-4E10-942C-B295DEB3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679CC-CF13-4674-B707-29AEE04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match 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7FFFA-7390-4AB6-B0EE-C84EA1F6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12 positive + 12 negative labels</a:t>
            </a:r>
          </a:p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At threshold 0.90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8C36D-46CD-49F5-80BD-BB38997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1040A-75B8-48AA-83B8-8E72199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DF669-0FAD-450F-A39F-0E60D25B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overlap 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487EB-4EA8-4B1E-8208-DD177EEC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766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120 overlap + 30 conflict</a:t>
            </a:r>
          </a:p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450 labelled pairs total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07085-4CD6-4AFA-9CE4-1A7F92B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23192-C5D2-423F-AF6E-E53E74CB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D2C24-6FD2-488B-B87C-B1106923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conflict precision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3F267-49E5-4D49-96EF-BA0ED007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30 conflict pairs</a:t>
            </a:r>
          </a:p>
          <a:p xmlns:a="http://schemas.openxmlformats.org/drawingml/2006/main">
            <a:pPr algn="l">
              <a:defRPr sz="10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300 sampled no-link pairs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1CB65-3979-48A7-BE54-195CB86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E5C9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F6234-C6ED-4A50-910E-31C8E1DF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Small generated sample. Labels are not independent field cases.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CFDF5-083A-45FF-9EC9-376DB144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Threshold sweep: 100% recall through 0.92; coverage 50%. At 0.94 and above, the matcher returns no positive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968200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6A527-659C-45C4-BE04-7E4F039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LIVE 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092F4-FB54-43F4-915E-55AA308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8EB0A-13FB-435C-8E32-8ED394E2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47CD0-285E-42FA-8FB3-90B62910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A four-minute case review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AABFC-DD52-4326-A9A1-56812E48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Use a prepared synthetic case with a noisy institution name and a second Bureau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ECBCF-679A-4482-9873-BA3738D1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B3139-9DAF-4236-B7B0-5F759C9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Open case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B8819-4121-4647-8952-558924D6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86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Find by Permanent ID or case number.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55F6A-C738-4BF7-A8E8-73C2FDEE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95575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C4443-418B-4BC7-8C68-313270E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0:45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8B563-49E8-4AFC-B596-AAA70CD9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146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Inspect institution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02AB4-F725-4A6F-B7D5-7A9AB83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14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Show source identity and cases across Bureaus.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B6A2F-2690-45C7-B4CC-158F7983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24225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C9C8B-F9BF-4F14-ADB5-F2B769C3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1:30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27C2B-65A0-41A9-B122-654F4ED3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43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Review overlap or conflict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A8AA57-3328-4BC2-B5D9-84D3101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43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Compare two records and show the explanation.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123B6-A853-4FB5-80CF-7BF1111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52875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5815C-37F6-48F8-8B75-1201AFFF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E92B6-3238-4D50-A643-B1F9F4A5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71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Record a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A18BA-4687-42E4-92AB-86D11A05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Post a coordination note or accept a transfer.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A7546-8A24-4907-B90A-61184822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81525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B65AB-FAC9-4CC3-8943-E5BA3B7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D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D62"/>
                </a:solidFill>
                <a:latin typeface="Arial"/>
                <a:ea typeface="Arial"/>
                <a:cs typeface="Arial"/>
              </a:rPr>
              <a:t>3:30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D7B3C-997D-40BC-9B9F-E6437DFC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00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2"/>
                </a:solidFill>
                <a:latin typeface="Arial"/>
                <a:ea typeface="Arial"/>
                <a:cs typeface="Arial"/>
              </a:rPr>
              <a:t>Close with the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40E04-EA62-4302-BF3A-1FF19909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00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8"/>
                </a:solidFill>
                <a:latin typeface="Arial"/>
                <a:ea typeface="Arial"/>
                <a:cs typeface="Arial"/>
              </a:rPr>
              <a:t>Show SLA workload and export CSV, Excel or PDF.</a:t>
            </a:r>
          </a:p>
        </p:txBody>
      </p:sp>
    </p:spTree>
    <p:extLst>
      <p:ext uri="{BB962C8B-B14F-4D97-AF65-F5344CB8AC3E}">
        <p14:creationId xmlns:p14="http://schemas.microsoft.com/office/powerpoint/2010/main" val="7015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715BE-6A27-498E-97A1-1D51F149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ROADMAP AND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BDCCC-8280-4549-99DC-4787A99E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B7CB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CBC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FECA7-3993-422D-ADB3-F7716794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EC23B-C231-458C-AD64-D65A5CA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prototype is ready for a controlled team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02D28-F5C2-43EF-B3F3-61A5F587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BC2"/>
                </a:solidFill>
                <a:latin typeface="Arial"/>
                <a:ea typeface="Arial"/>
                <a:cs typeface="Arial"/>
              </a:rPr>
              <a:t>Move to a pilot only after the rules, data access and owners are confirmed.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3A40E-E52F-4923-9203-D2DEFEF2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400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245B54"/>
          </a:solidFill>
          <a:ln xmlns:a="http://schemas.openxmlformats.org/drawingml/2006/main" w="9525">
            <a:solidFill>
              <a:srgbClr val="3F76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657A-55AC-4A49-BA74-D68B62D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7CCF7-A48E-40ED-8497-51E5E7D4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B67AD-E9EB-4EC8-A3D3-6DF6E992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2400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4B4B"/>
          </a:solidFill>
          <a:ln xmlns:a="http://schemas.openxmlformats.org/drawingml/2006/main" w="9525">
            <a:solidFill>
              <a:srgbClr val="3F76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4274A-FA6A-44E5-8CBD-2F04A270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05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B4E80-CF8E-41F1-B222-16DC94D9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194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Approved read-only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09578-CCE6-46B2-8A02-4128A16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400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4B4B"/>
          </a:solidFill>
          <a:ln xmlns:a="http://schemas.openxmlformats.org/drawingml/2006/main" w="9525">
            <a:solidFill>
              <a:srgbClr val="3F76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DE7FA-2563-4F4C-A00B-350B2583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31A56-4770-49B5-BC99-87038C3A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Expand sources and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539E0-75BE-43A2-B59C-6D1E9C3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400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4B4B"/>
          </a:solidFill>
          <a:ln xmlns:a="http://schemas.openxmlformats.org/drawingml/2006/main" w="9525">
            <a:solidFill>
              <a:srgbClr val="3F76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E7AF1-6112-4B5E-915F-4FF85278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05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8EE62-D051-4FB1-AFC1-6984A7F0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194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Security, recovery and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FE476-D223-41C0-8305-86D601DA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C6D9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6D98A"/>
                </a:solidFill>
                <a:latin typeface="Arial"/>
                <a:ea typeface="Arial"/>
                <a:cs typeface="Arial"/>
              </a:rPr>
              <a:t>Decisions needed before submission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ECC8D-E6BC-470F-BDAE-363D4432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Official problem statement and template, mentor workflow and SLA rules, source owners and access, team roles and rehearsal 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8CC96-CB10-4B8D-BB99-491FBFF2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7CBC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BC2"/>
                </a:solidFill>
                <a:latin typeface="Arial"/>
                <a:ea typeface="Arial"/>
                <a:cs typeface="Arial"/>
              </a:rPr>
              <a:t>Phases 7–8 are runbooks and roadmap plans. The finale and production pilot have not occurred.</a:t>
            </a:r>
          </a:p>
        </p:txBody>
      </p:sp>
    </p:spTree>
    <p:extLst>
      <p:ext uri="{BB962C8B-B14F-4D97-AF65-F5344CB8AC3E}">
        <p14:creationId xmlns:p14="http://schemas.microsoft.com/office/powerpoint/2010/main" val="140781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2026-10-24T13:16:09.5990000Z</dcterms:created>
  <dcterms:modified xsi:type="dcterms:W3CDTF">2026-10-24T13:16:09.5990000Z</dcterms:modified>
</coreProperties>
</file>